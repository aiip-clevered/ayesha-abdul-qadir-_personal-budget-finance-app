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9" roundtripDataSignature="AMtx7mizNz+w5SRgKqaN4fMphBgUvTur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e14512d2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9e14512d2f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e14512d2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9e14512d2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e14512d2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9e14512d2f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571472" y="428604"/>
            <a:ext cx="8072494" cy="1360005"/>
          </a:xfrm>
          <a:prstGeom prst="rect">
            <a:avLst/>
          </a:prstGeom>
          <a:solidFill>
            <a:srgbClr val="F1EDA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000" u="none" cap="none" strike="noStrike">
                <a:solidFill>
                  <a:schemeClr val="dk1"/>
                </a:solidFill>
                <a:latin typeface="Calibri"/>
                <a:ea typeface="Calibri"/>
                <a:cs typeface="Calibri"/>
                <a:sym typeface="Calibri"/>
              </a:rPr>
              <a:t>Advance Internship@Clevered</a:t>
            </a:r>
            <a:br>
              <a:rPr b="1" i="0" lang="en-IN" sz="4400" u="none" cap="none" strike="noStrike">
                <a:solidFill>
                  <a:schemeClr val="dk1"/>
                </a:solidFill>
                <a:latin typeface="Calibri"/>
                <a:ea typeface="Calibri"/>
                <a:cs typeface="Calibri"/>
                <a:sym typeface="Calibri"/>
              </a:rPr>
            </a:br>
            <a:r>
              <a:rPr b="1" lang="en-IN" sz="4400">
                <a:solidFill>
                  <a:schemeClr val="dk1"/>
                </a:solidFill>
                <a:latin typeface="Calibri"/>
                <a:ea typeface="Calibri"/>
                <a:cs typeface="Calibri"/>
                <a:sym typeface="Calibri"/>
              </a:rPr>
              <a:t>Personal Budget Finance App</a:t>
            </a:r>
            <a:endParaRPr b="0" i="0" sz="4400" u="none" cap="none" strike="noStrike">
              <a:solidFill>
                <a:schemeClr val="dk1"/>
              </a:solidFill>
              <a:latin typeface="Calibri"/>
              <a:ea typeface="Calibri"/>
              <a:cs typeface="Calibri"/>
              <a:sym typeface="Calibri"/>
            </a:endParaRPr>
          </a:p>
        </p:txBody>
      </p:sp>
      <p:sp>
        <p:nvSpPr>
          <p:cNvPr id="85" name="Google Shape;85;p1"/>
          <p:cNvSpPr txBox="1"/>
          <p:nvPr>
            <p:ph idx="1" type="subTitle"/>
          </p:nvPr>
        </p:nvSpPr>
        <p:spPr>
          <a:xfrm>
            <a:off x="4572000" y="6072206"/>
            <a:ext cx="4572032" cy="785818"/>
          </a:xfrm>
          <a:prstGeom prst="rect">
            <a:avLst/>
          </a:prstGeom>
          <a:gradFill>
            <a:gsLst>
              <a:gs pos="0">
                <a:srgbClr val="5E9EFF"/>
              </a:gs>
              <a:gs pos="39999">
                <a:srgbClr val="85C2FF"/>
              </a:gs>
              <a:gs pos="70000">
                <a:srgbClr val="C4D6EB"/>
              </a:gs>
              <a:gs pos="100000">
                <a:srgbClr val="FFEBFA"/>
              </a:gs>
            </a:gsLst>
            <a:lin ang="16200000" scaled="0"/>
          </a:gradFill>
          <a:ln cap="flat" cmpd="sng" w="9525">
            <a:solidFill>
              <a:srgbClr val="0070C0"/>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rtl="0" algn="r">
              <a:spcBef>
                <a:spcPts val="0"/>
              </a:spcBef>
              <a:spcAft>
                <a:spcPts val="0"/>
              </a:spcAft>
              <a:buClr>
                <a:schemeClr val="dk1"/>
              </a:buClr>
              <a:buSzPct val="100000"/>
              <a:buNone/>
            </a:pPr>
            <a:r>
              <a:rPr b="1" lang="en-IN">
                <a:solidFill>
                  <a:schemeClr val="dk1"/>
                </a:solidFill>
              </a:rPr>
              <a:t>Author: Ayesha Abdul Qadir </a:t>
            </a:r>
            <a:endParaRPr b="1">
              <a:solidFill>
                <a:schemeClr val="dk1"/>
              </a:solidFill>
            </a:endParaRPr>
          </a:p>
        </p:txBody>
      </p:sp>
      <p:sp>
        <p:nvSpPr>
          <p:cNvPr id="86" name="Google Shape;86;p1"/>
          <p:cNvSpPr txBox="1"/>
          <p:nvPr/>
        </p:nvSpPr>
        <p:spPr>
          <a:xfrm>
            <a:off x="1457348" y="2357430"/>
            <a:ext cx="6400800" cy="785818"/>
          </a:xfrm>
          <a:prstGeom prst="rect">
            <a:avLst/>
          </a:prstGeom>
          <a:gradFill>
            <a:gsLst>
              <a:gs pos="0">
                <a:srgbClr val="5E9EFF"/>
              </a:gs>
              <a:gs pos="39999">
                <a:srgbClr val="85C2FF"/>
              </a:gs>
              <a:gs pos="70000">
                <a:srgbClr val="C4D6EB"/>
              </a:gs>
              <a:gs pos="100000">
                <a:srgbClr val="FFEBFA"/>
              </a:gs>
            </a:gsLst>
            <a:lin ang="5400000" scaled="0"/>
          </a:gradFill>
          <a:ln cap="flat" cmpd="sng" w="9525">
            <a:solidFill>
              <a:srgbClr val="0070C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3600"/>
              <a:buFont typeface="Arial"/>
              <a:buNone/>
            </a:pPr>
            <a:r>
              <a:rPr b="1" i="0" lang="en-IN" sz="3600" u="none" cap="none" strike="noStrike">
                <a:solidFill>
                  <a:schemeClr val="dk1"/>
                </a:solidFill>
                <a:latin typeface="Calibri"/>
                <a:ea typeface="Calibri"/>
                <a:cs typeface="Calibri"/>
                <a:sym typeface="Calibri"/>
              </a:rPr>
              <a:t>App User Manual</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p:nvPr/>
        </p:nvSpPr>
        <p:spPr>
          <a:xfrm>
            <a:off x="1958622"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800" u="none" cap="none" strike="noStrike">
                <a:solidFill>
                  <a:schemeClr val="dk1"/>
                </a:solidFill>
                <a:latin typeface="Calibri"/>
                <a:ea typeface="Calibri"/>
                <a:cs typeface="Calibri"/>
                <a:sym typeface="Calibri"/>
              </a:rPr>
              <a:t>Table of Contents</a:t>
            </a:r>
            <a:endParaRPr/>
          </a:p>
        </p:txBody>
      </p:sp>
      <p:sp>
        <p:nvSpPr>
          <p:cNvPr id="92" name="Google Shape;92;p2"/>
          <p:cNvSpPr txBox="1"/>
          <p:nvPr>
            <p:ph idx="1" type="body"/>
          </p:nvPr>
        </p:nvSpPr>
        <p:spPr>
          <a:xfrm>
            <a:off x="457200" y="2071678"/>
            <a:ext cx="8229600" cy="4525963"/>
          </a:xfrm>
          <a:prstGeom prst="rect">
            <a:avLst/>
          </a:prstGeom>
          <a:noFill/>
          <a:ln>
            <a:noFill/>
          </a:ln>
        </p:spPr>
        <p:txBody>
          <a:bodyPr anchorCtr="0" anchor="t" bIns="45700" lIns="91425" spcFirstLastPara="1" rIns="91425" wrap="square" tIns="45700">
            <a:normAutofit/>
          </a:bodyPr>
          <a:lstStyle/>
          <a:p>
            <a:pPr indent="-463550" lvl="0" marL="342900" rtl="0" algn="l">
              <a:spcBef>
                <a:spcPts val="0"/>
              </a:spcBef>
              <a:spcAft>
                <a:spcPts val="0"/>
              </a:spcAft>
              <a:buClr>
                <a:schemeClr val="lt1"/>
              </a:buClr>
              <a:buSzPts val="3700"/>
              <a:buChar char="•"/>
            </a:pPr>
            <a:r>
              <a:rPr b="1" lang="en-IN" sz="3700">
                <a:solidFill>
                  <a:schemeClr val="lt1"/>
                </a:solidFill>
              </a:rPr>
              <a:t>Acknowledgements</a:t>
            </a:r>
            <a:endParaRPr b="1" sz="3700">
              <a:solidFill>
                <a:schemeClr val="lt1"/>
              </a:solidFill>
            </a:endParaRPr>
          </a:p>
          <a:p>
            <a:pPr indent="-463550" lvl="0" marL="342900" rtl="0" algn="l">
              <a:spcBef>
                <a:spcPts val="0"/>
              </a:spcBef>
              <a:spcAft>
                <a:spcPts val="0"/>
              </a:spcAft>
              <a:buClr>
                <a:schemeClr val="lt1"/>
              </a:buClr>
              <a:buSzPts val="3700"/>
              <a:buChar char="•"/>
            </a:pPr>
            <a:r>
              <a:rPr b="1" lang="en-IN" sz="3700">
                <a:solidFill>
                  <a:schemeClr val="lt1"/>
                </a:solidFill>
              </a:rPr>
              <a:t>About Me</a:t>
            </a:r>
            <a:endParaRPr b="1" sz="3700">
              <a:solidFill>
                <a:schemeClr val="lt1"/>
              </a:solidFill>
            </a:endParaRPr>
          </a:p>
          <a:p>
            <a:pPr indent="-463550" lvl="0" marL="342900" rtl="0" algn="l">
              <a:spcBef>
                <a:spcPts val="0"/>
              </a:spcBef>
              <a:spcAft>
                <a:spcPts val="0"/>
              </a:spcAft>
              <a:buClr>
                <a:schemeClr val="lt1"/>
              </a:buClr>
              <a:buSzPts val="3700"/>
              <a:buChar char="•"/>
            </a:pPr>
            <a:r>
              <a:rPr b="1" lang="en-IN" sz="3700">
                <a:solidFill>
                  <a:schemeClr val="lt1"/>
                </a:solidFill>
              </a:rPr>
              <a:t>About My Internship with Clevered</a:t>
            </a:r>
            <a:endParaRPr b="1" sz="3700">
              <a:solidFill>
                <a:schemeClr val="lt1"/>
              </a:solidFill>
            </a:endParaRPr>
          </a:p>
          <a:p>
            <a:pPr indent="-463550" lvl="0" marL="342900" rtl="0" algn="l">
              <a:spcBef>
                <a:spcPts val="0"/>
              </a:spcBef>
              <a:spcAft>
                <a:spcPts val="0"/>
              </a:spcAft>
              <a:buClr>
                <a:schemeClr val="lt1"/>
              </a:buClr>
              <a:buSzPts val="3700"/>
              <a:buChar char="•"/>
            </a:pPr>
            <a:r>
              <a:rPr b="1" lang="en-IN" sz="3700">
                <a:solidFill>
                  <a:schemeClr val="lt1"/>
                </a:solidFill>
              </a:rPr>
              <a:t>How do I use the app?</a:t>
            </a:r>
            <a:endParaRPr b="1" sz="3700">
              <a:solidFill>
                <a:schemeClr val="lt1"/>
              </a:solidFill>
            </a:endParaRPr>
          </a:p>
          <a:p>
            <a:pPr indent="-463550" lvl="0" marL="342900" rtl="0" algn="l">
              <a:spcBef>
                <a:spcPts val="0"/>
              </a:spcBef>
              <a:spcAft>
                <a:spcPts val="0"/>
              </a:spcAft>
              <a:buClr>
                <a:schemeClr val="lt1"/>
              </a:buClr>
              <a:buSzPts val="3700"/>
              <a:buChar char="•"/>
            </a:pPr>
            <a:r>
              <a:rPr b="1" lang="en-IN" sz="3700">
                <a:solidFill>
                  <a:schemeClr val="lt1"/>
                </a:solidFill>
              </a:rPr>
              <a:t>Options</a:t>
            </a:r>
            <a:endParaRPr b="1" sz="3700">
              <a:solidFill>
                <a:schemeClr val="lt1"/>
              </a:solidFill>
            </a:endParaRPr>
          </a:p>
          <a:p>
            <a:pPr indent="-463550" lvl="0" marL="342900" rtl="0" algn="l">
              <a:spcBef>
                <a:spcPts val="0"/>
              </a:spcBef>
              <a:spcAft>
                <a:spcPts val="0"/>
              </a:spcAft>
              <a:buClr>
                <a:schemeClr val="lt1"/>
              </a:buClr>
              <a:buSzPts val="3700"/>
              <a:buChar char="•"/>
            </a:pPr>
            <a:r>
              <a:rPr b="1" lang="en-IN" sz="3700">
                <a:solidFill>
                  <a:schemeClr val="lt1"/>
                </a:solidFill>
              </a:rPr>
              <a:t>Contacts</a:t>
            </a:r>
            <a:endParaRPr b="1" sz="3700">
              <a:solidFill>
                <a:schemeClr val="lt1"/>
              </a:solidFill>
            </a:endParaRPr>
          </a:p>
          <a:p>
            <a:pPr indent="0" lvl="0" marL="342900" rtl="0" algn="l">
              <a:spcBef>
                <a:spcPts val="0"/>
              </a:spcBef>
              <a:spcAft>
                <a:spcPts val="0"/>
              </a:spcAft>
              <a:buNone/>
            </a:pPr>
            <a:r>
              <a:t/>
            </a:r>
            <a:endParaRPr b="1">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Acknowledgements</a:t>
            </a:r>
            <a:endParaRPr/>
          </a:p>
        </p:txBody>
      </p:sp>
      <p:sp>
        <p:nvSpPr>
          <p:cNvPr id="98" name="Google Shape;98;p3"/>
          <p:cNvSpPr txBox="1"/>
          <p:nvPr>
            <p:ph idx="1" type="body"/>
          </p:nvPr>
        </p:nvSpPr>
        <p:spPr>
          <a:xfrm>
            <a:off x="457200" y="1785926"/>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sz="3800">
                <a:solidFill>
                  <a:schemeClr val="lt1"/>
                </a:solidFill>
              </a:rPr>
              <a:t>A small vote of thanks for all people who have helped me in this journey of my App Development - My parents, Mr Ken, and My Group </a:t>
            </a:r>
            <a:r>
              <a:rPr b="1" lang="en-IN" sz="3800">
                <a:solidFill>
                  <a:schemeClr val="lt1"/>
                </a:solidFill>
              </a:rPr>
              <a:t>members.</a:t>
            </a:r>
            <a:endParaRPr b="1" sz="38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About Me..</a:t>
            </a:r>
            <a:endParaRPr/>
          </a:p>
        </p:txBody>
      </p:sp>
      <p:sp>
        <p:nvSpPr>
          <p:cNvPr id="104" name="Google Shape;104;p4"/>
          <p:cNvSpPr txBox="1"/>
          <p:nvPr>
            <p:ph idx="1" type="body"/>
          </p:nvPr>
        </p:nvSpPr>
        <p:spPr>
          <a:xfrm>
            <a:off x="457200" y="1791669"/>
            <a:ext cx="3686172"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b="1" lang="en-IN">
                <a:solidFill>
                  <a:schemeClr val="lt1"/>
                </a:solidFill>
              </a:rPr>
              <a:t>Student’s Photograph</a:t>
            </a:r>
            <a:endParaRPr b="1">
              <a:solidFill>
                <a:schemeClr val="lt1"/>
              </a:solidFill>
            </a:endParaRPr>
          </a:p>
        </p:txBody>
      </p:sp>
      <p:sp>
        <p:nvSpPr>
          <p:cNvPr id="105" name="Google Shape;105;p4"/>
          <p:cNvSpPr txBox="1"/>
          <p:nvPr/>
        </p:nvSpPr>
        <p:spPr>
          <a:xfrm>
            <a:off x="4700399" y="1791675"/>
            <a:ext cx="4013700" cy="4609200"/>
          </a:xfrm>
          <a:prstGeom prst="rect">
            <a:avLst/>
          </a:prstGeom>
          <a:noFill/>
          <a:ln>
            <a:noFill/>
          </a:ln>
        </p:spPr>
        <p:txBody>
          <a:bodyPr anchorCtr="0" anchor="t" bIns="45700" lIns="91425" spcFirstLastPara="1" rIns="91425" wrap="square" tIns="45700">
            <a:normAutofit fontScale="55000" lnSpcReduction="10000"/>
          </a:bodyPr>
          <a:lstStyle/>
          <a:p>
            <a:pPr indent="0" lvl="0" marL="0" rtl="0" algn="l">
              <a:spcBef>
                <a:spcPts val="0"/>
              </a:spcBef>
              <a:spcAft>
                <a:spcPts val="0"/>
              </a:spcAft>
              <a:buClr>
                <a:schemeClr val="dk1"/>
              </a:buClr>
              <a:buSzPts val="605"/>
              <a:buFont typeface="Arial"/>
              <a:buNone/>
            </a:pPr>
            <a:r>
              <a:rPr b="1" lang="en-IN" sz="5100">
                <a:solidFill>
                  <a:schemeClr val="lt1"/>
                </a:solidFill>
                <a:latin typeface="Calibri"/>
                <a:ea typeface="Calibri"/>
                <a:cs typeface="Calibri"/>
                <a:sym typeface="Calibri"/>
              </a:rPr>
              <a:t>My name is Ayesha Abdul Qadir. I'm studying in grade 12, Alpha college. I am currently doing As level. In the future I would either like to pursue Al or software </a:t>
            </a:r>
            <a:r>
              <a:rPr b="1" lang="en-IN" sz="5100">
                <a:solidFill>
                  <a:schemeClr val="lt1"/>
                </a:solidFill>
                <a:latin typeface="Calibri"/>
                <a:ea typeface="Calibri"/>
                <a:cs typeface="Calibri"/>
                <a:sym typeface="Calibri"/>
              </a:rPr>
              <a:t>engineering</a:t>
            </a:r>
            <a:r>
              <a:rPr b="1" lang="en-IN" sz="5100">
                <a:solidFill>
                  <a:schemeClr val="lt1"/>
                </a:solidFill>
                <a:latin typeface="Calibri"/>
                <a:ea typeface="Calibri"/>
                <a:cs typeface="Calibri"/>
                <a:sym typeface="Calibri"/>
              </a:rPr>
              <a:t>. My interests are reading, painting, designing, and listening to music.</a:t>
            </a:r>
            <a:endParaRPr b="1" sz="5100">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3200">
              <a:solidFill>
                <a:schemeClr val="lt1"/>
              </a:solidFill>
              <a:latin typeface="Calibri"/>
              <a:ea typeface="Calibri"/>
              <a:cs typeface="Calibri"/>
              <a:sym typeface="Calibri"/>
            </a:endParaRPr>
          </a:p>
        </p:txBody>
      </p:sp>
      <p:pic>
        <p:nvPicPr>
          <p:cNvPr id="106" name="Google Shape;106;p4" title="my prof pic.jpg"/>
          <p:cNvPicPr preferRelativeResize="0"/>
          <p:nvPr/>
        </p:nvPicPr>
        <p:blipFill>
          <a:blip r:embed="rId3">
            <a:alphaModFix/>
          </a:blip>
          <a:stretch>
            <a:fillRect/>
          </a:stretch>
        </p:blipFill>
        <p:spPr>
          <a:xfrm>
            <a:off x="457197" y="1531150"/>
            <a:ext cx="3193175" cy="5213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p:nvPr/>
        </p:nvSpPr>
        <p:spPr>
          <a:xfrm>
            <a:off x="755576" y="404553"/>
            <a:ext cx="7632848"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u="none" cap="none" strike="noStrike">
                <a:solidFill>
                  <a:schemeClr val="dk1"/>
                </a:solidFill>
                <a:latin typeface="Calibri"/>
                <a:ea typeface="Calibri"/>
                <a:cs typeface="Calibri"/>
                <a:sym typeface="Calibri"/>
              </a:rPr>
              <a:t>About My Internship with Clevered..</a:t>
            </a:r>
            <a:endParaRPr/>
          </a:p>
        </p:txBody>
      </p:sp>
      <p:sp>
        <p:nvSpPr>
          <p:cNvPr id="112" name="Google Shape;112;p5"/>
          <p:cNvSpPr txBox="1"/>
          <p:nvPr/>
        </p:nvSpPr>
        <p:spPr>
          <a:xfrm>
            <a:off x="755575" y="1571600"/>
            <a:ext cx="7632900" cy="4526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640"/>
              </a:spcBef>
              <a:spcAft>
                <a:spcPts val="0"/>
              </a:spcAft>
              <a:buNone/>
            </a:pPr>
            <a:r>
              <a:rPr b="1" lang="en-IN" sz="3200">
                <a:solidFill>
                  <a:schemeClr val="lt1"/>
                </a:solidFill>
                <a:latin typeface="Calibri"/>
                <a:ea typeface="Calibri"/>
                <a:cs typeface="Calibri"/>
                <a:sym typeface="Calibri"/>
              </a:rPr>
              <a:t>My </a:t>
            </a:r>
            <a:r>
              <a:rPr b="1" lang="en-IN" sz="3200">
                <a:solidFill>
                  <a:schemeClr val="lt1"/>
                </a:solidFill>
                <a:latin typeface="Calibri"/>
                <a:ea typeface="Calibri"/>
                <a:cs typeface="Calibri"/>
                <a:sym typeface="Calibri"/>
              </a:rPr>
              <a:t>experience</a:t>
            </a:r>
            <a:r>
              <a:rPr b="1" lang="en-IN" sz="3200">
                <a:solidFill>
                  <a:schemeClr val="lt1"/>
                </a:solidFill>
                <a:latin typeface="Calibri"/>
                <a:ea typeface="Calibri"/>
                <a:cs typeface="Calibri"/>
                <a:sym typeface="Calibri"/>
              </a:rPr>
              <a:t> with </a:t>
            </a:r>
            <a:r>
              <a:rPr b="1" lang="en-IN" sz="3200">
                <a:solidFill>
                  <a:schemeClr val="lt1"/>
                </a:solidFill>
                <a:latin typeface="Calibri"/>
                <a:ea typeface="Calibri"/>
                <a:cs typeface="Calibri"/>
                <a:sym typeface="Calibri"/>
              </a:rPr>
              <a:t>clevered was a very amazing and </a:t>
            </a:r>
            <a:endParaRPr b="1" i="0" sz="32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About App..</a:t>
            </a:r>
            <a:endParaRPr/>
          </a:p>
        </p:txBody>
      </p:sp>
      <p:sp>
        <p:nvSpPr>
          <p:cNvPr id="118" name="Google Shape;118;p6"/>
          <p:cNvSpPr txBox="1"/>
          <p:nvPr>
            <p:ph idx="1" type="body"/>
          </p:nvPr>
        </p:nvSpPr>
        <p:spPr>
          <a:xfrm>
            <a:off x="178500" y="1666200"/>
            <a:ext cx="4393500" cy="45261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None/>
            </a:pPr>
            <a:r>
              <a:rPr b="1" lang="en-IN">
                <a:solidFill>
                  <a:schemeClr val="lt1"/>
                </a:solidFill>
              </a:rPr>
              <a:t>App’s Main Menu</a:t>
            </a:r>
            <a:endParaRPr b="1">
              <a:solidFill>
                <a:schemeClr val="lt1"/>
              </a:solidFill>
            </a:endParaRPr>
          </a:p>
        </p:txBody>
      </p:sp>
      <p:sp>
        <p:nvSpPr>
          <p:cNvPr id="119" name="Google Shape;119;p6"/>
          <p:cNvSpPr txBox="1"/>
          <p:nvPr/>
        </p:nvSpPr>
        <p:spPr>
          <a:xfrm>
            <a:off x="4851575" y="1571600"/>
            <a:ext cx="4106700" cy="52098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spcBef>
                <a:spcPts val="0"/>
              </a:spcBef>
              <a:spcAft>
                <a:spcPts val="0"/>
              </a:spcAft>
              <a:buNone/>
            </a:pPr>
            <a:r>
              <a:rPr b="1" lang="en-IN" sz="3200">
                <a:solidFill>
                  <a:schemeClr val="lt1"/>
                </a:solidFill>
                <a:latin typeface="Calibri"/>
                <a:ea typeface="Calibri"/>
                <a:cs typeface="Calibri"/>
                <a:sym typeface="Calibri"/>
              </a:rPr>
              <a:t>I made this app by analysing the problems in my community and in my perspective, building this personal finance management app is important because it is difficult for many people to manage money effectively in today's world. We often spend without realizing where our money goes, and traditional  budgeting methods can feel complicated or time-consuming. Many people struggle with where to invest or how much to put into savings, this can give them that help.</a:t>
            </a:r>
            <a:endParaRPr b="1" sz="3200">
              <a:solidFill>
                <a:schemeClr val="lt1"/>
              </a:solidFill>
              <a:latin typeface="Calibri"/>
              <a:ea typeface="Calibri"/>
              <a:cs typeface="Calibri"/>
              <a:sym typeface="Calibri"/>
            </a:endParaRPr>
          </a:p>
        </p:txBody>
      </p:sp>
      <p:pic>
        <p:nvPicPr>
          <p:cNvPr id="120" name="Google Shape;120;p6"/>
          <p:cNvPicPr preferRelativeResize="0"/>
          <p:nvPr/>
        </p:nvPicPr>
        <p:blipFill>
          <a:blip r:embed="rId3">
            <a:alphaModFix/>
          </a:blip>
          <a:stretch>
            <a:fillRect/>
          </a:stretch>
        </p:blipFill>
        <p:spPr>
          <a:xfrm>
            <a:off x="178500" y="2445700"/>
            <a:ext cx="4393500" cy="2202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p:nvPr/>
        </p:nvSpPr>
        <p:spPr>
          <a:xfrm>
            <a:off x="1691682" y="2960949"/>
            <a:ext cx="5760600" cy="9360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How do I use the App?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p:nvPr/>
        </p:nvSpPr>
        <p:spPr>
          <a:xfrm>
            <a:off x="611560" y="140358"/>
            <a:ext cx="7920880" cy="1290871"/>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400">
                <a:solidFill>
                  <a:schemeClr val="dk1"/>
                </a:solidFill>
                <a:latin typeface="Calibri"/>
                <a:ea typeface="Calibri"/>
                <a:cs typeface="Calibri"/>
                <a:sym typeface="Calibri"/>
              </a:rPr>
              <a:t>Track your expenses</a:t>
            </a:r>
            <a:endParaRPr/>
          </a:p>
        </p:txBody>
      </p:sp>
      <p:sp>
        <p:nvSpPr>
          <p:cNvPr id="131" name="Google Shape;131;p8"/>
          <p:cNvSpPr txBox="1"/>
          <p:nvPr>
            <p:ph idx="1" type="body"/>
          </p:nvPr>
        </p:nvSpPr>
        <p:spPr>
          <a:xfrm>
            <a:off x="-4481675" y="1546238"/>
            <a:ext cx="34719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sz="2400">
              <a:solidFill>
                <a:schemeClr val="lt1"/>
              </a:solidFill>
            </a:endParaRPr>
          </a:p>
        </p:txBody>
      </p:sp>
      <p:sp>
        <p:nvSpPr>
          <p:cNvPr id="132" name="Google Shape;132;p8"/>
          <p:cNvSpPr txBox="1"/>
          <p:nvPr/>
        </p:nvSpPr>
        <p:spPr>
          <a:xfrm>
            <a:off x="4363875" y="2471513"/>
            <a:ext cx="4406100" cy="324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480"/>
              </a:spcBef>
              <a:spcAft>
                <a:spcPts val="0"/>
              </a:spcAft>
              <a:buNone/>
            </a:pPr>
            <a:r>
              <a:rPr b="1" lang="en-IN" sz="3200">
                <a:solidFill>
                  <a:schemeClr val="lt1"/>
                </a:solidFill>
                <a:latin typeface="Calibri"/>
                <a:ea typeface="Calibri"/>
                <a:cs typeface="Calibri"/>
                <a:sym typeface="Calibri"/>
              </a:rPr>
              <a:t>You just have </a:t>
            </a:r>
            <a:r>
              <a:rPr b="1" lang="en-IN" sz="3200">
                <a:solidFill>
                  <a:schemeClr val="lt1"/>
                </a:solidFill>
                <a:latin typeface="Calibri"/>
                <a:ea typeface="Calibri"/>
                <a:cs typeface="Calibri"/>
                <a:sym typeface="Calibri"/>
              </a:rPr>
              <a:t>calculate</a:t>
            </a:r>
            <a:r>
              <a:rPr b="1" lang="en-IN" sz="3200">
                <a:solidFill>
                  <a:schemeClr val="lt1"/>
                </a:solidFill>
                <a:latin typeface="Calibri"/>
                <a:ea typeface="Calibri"/>
                <a:cs typeface="Calibri"/>
                <a:sym typeface="Calibri"/>
              </a:rPr>
              <a:t> your expenses and enter your expenses and its helps you budget better.</a:t>
            </a:r>
            <a:endParaRPr b="1" i="0" sz="3200" u="none" cap="none" strike="noStrike">
              <a:solidFill>
                <a:schemeClr val="lt1"/>
              </a:solidFill>
              <a:latin typeface="Calibri"/>
              <a:ea typeface="Calibri"/>
              <a:cs typeface="Calibri"/>
              <a:sym typeface="Calibri"/>
            </a:endParaRPr>
          </a:p>
        </p:txBody>
      </p:sp>
      <p:pic>
        <p:nvPicPr>
          <p:cNvPr id="133" name="Google Shape;133;p8"/>
          <p:cNvPicPr preferRelativeResize="0"/>
          <p:nvPr/>
        </p:nvPicPr>
        <p:blipFill>
          <a:blip r:embed="rId3">
            <a:alphaModFix/>
          </a:blip>
          <a:stretch>
            <a:fillRect/>
          </a:stretch>
        </p:blipFill>
        <p:spPr>
          <a:xfrm>
            <a:off x="414175" y="1431213"/>
            <a:ext cx="3505200" cy="5324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9e14512d2f_0_15"/>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400">
                <a:solidFill>
                  <a:schemeClr val="dk1"/>
                </a:solidFill>
                <a:latin typeface="Calibri"/>
                <a:ea typeface="Calibri"/>
                <a:cs typeface="Calibri"/>
                <a:sym typeface="Calibri"/>
              </a:rPr>
              <a:t>See smart investments</a:t>
            </a:r>
            <a:endParaRPr/>
          </a:p>
        </p:txBody>
      </p:sp>
      <p:sp>
        <p:nvSpPr>
          <p:cNvPr id="139" name="Google Shape;139;g39e14512d2f_0_15"/>
          <p:cNvSpPr txBox="1"/>
          <p:nvPr>
            <p:ph idx="1" type="body"/>
          </p:nvPr>
        </p:nvSpPr>
        <p:spPr>
          <a:xfrm>
            <a:off x="-3864325" y="1617850"/>
            <a:ext cx="34719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2400"/>
              <a:buChar char="•"/>
            </a:pPr>
            <a:r>
              <a:rPr b="1" lang="en-IN" sz="2400">
                <a:solidFill>
                  <a:schemeClr val="lt1"/>
                </a:solidFill>
              </a:rPr>
              <a:t>Screenshot/ Pic of each option/screen of the App</a:t>
            </a:r>
            <a:endParaRPr b="1" sz="2400">
              <a:solidFill>
                <a:schemeClr val="lt1"/>
              </a:solidFill>
            </a:endParaRPr>
          </a:p>
        </p:txBody>
      </p:sp>
      <p:sp>
        <p:nvSpPr>
          <p:cNvPr id="140" name="Google Shape;140;g39e14512d2f_0_15"/>
          <p:cNvSpPr txBox="1"/>
          <p:nvPr/>
        </p:nvSpPr>
        <p:spPr>
          <a:xfrm>
            <a:off x="4774950" y="2549647"/>
            <a:ext cx="3757500" cy="26625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lang="en-IN" sz="3200">
                <a:solidFill>
                  <a:schemeClr val="lt1"/>
                </a:solidFill>
                <a:latin typeface="Calibri"/>
                <a:ea typeface="Calibri"/>
                <a:cs typeface="Calibri"/>
                <a:sym typeface="Calibri"/>
              </a:rPr>
              <a:t>It suggests you to invest in stock if you have a good budget remaining after your expenses</a:t>
            </a:r>
            <a:endParaRPr b="1" i="0" sz="3200" u="none" cap="none" strike="noStrike">
              <a:solidFill>
                <a:schemeClr val="lt1"/>
              </a:solidFill>
              <a:latin typeface="Calibri"/>
              <a:ea typeface="Calibri"/>
              <a:cs typeface="Calibri"/>
              <a:sym typeface="Calibri"/>
            </a:endParaRPr>
          </a:p>
        </p:txBody>
      </p:sp>
      <p:pic>
        <p:nvPicPr>
          <p:cNvPr id="141" name="Google Shape;141;g39e14512d2f_0_15"/>
          <p:cNvPicPr preferRelativeResize="0"/>
          <p:nvPr/>
        </p:nvPicPr>
        <p:blipFill>
          <a:blip r:embed="rId3">
            <a:alphaModFix/>
          </a:blip>
          <a:stretch>
            <a:fillRect/>
          </a:stretch>
        </p:blipFill>
        <p:spPr>
          <a:xfrm>
            <a:off x="611550" y="2366425"/>
            <a:ext cx="3590925" cy="3028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9e14512d2f_0_7"/>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400">
                <a:solidFill>
                  <a:schemeClr val="dk1"/>
                </a:solidFill>
                <a:latin typeface="Calibri"/>
                <a:ea typeface="Calibri"/>
                <a:cs typeface="Calibri"/>
                <a:sym typeface="Calibri"/>
              </a:rPr>
              <a:t>Calculate debt/morgage</a:t>
            </a:r>
            <a:endParaRPr/>
          </a:p>
        </p:txBody>
      </p:sp>
      <p:sp>
        <p:nvSpPr>
          <p:cNvPr id="147" name="Google Shape;147;g39e14512d2f_0_7"/>
          <p:cNvSpPr txBox="1"/>
          <p:nvPr>
            <p:ph idx="1" type="body"/>
          </p:nvPr>
        </p:nvSpPr>
        <p:spPr>
          <a:xfrm>
            <a:off x="-4146525" y="2199925"/>
            <a:ext cx="34719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2400"/>
              <a:buChar char="•"/>
            </a:pPr>
            <a:r>
              <a:rPr b="1" lang="en-IN" sz="2400">
                <a:solidFill>
                  <a:schemeClr val="lt1"/>
                </a:solidFill>
              </a:rPr>
              <a:t>Screenshot/ Pic of each option/screen of the App</a:t>
            </a:r>
            <a:endParaRPr b="1" sz="2400">
              <a:solidFill>
                <a:schemeClr val="lt1"/>
              </a:solidFill>
            </a:endParaRPr>
          </a:p>
        </p:txBody>
      </p:sp>
      <p:sp>
        <p:nvSpPr>
          <p:cNvPr id="148" name="Google Shape;148;g39e14512d2f_0_7"/>
          <p:cNvSpPr txBox="1"/>
          <p:nvPr/>
        </p:nvSpPr>
        <p:spPr>
          <a:xfrm>
            <a:off x="5100670" y="1546243"/>
            <a:ext cx="3757500" cy="4526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480"/>
              </a:spcBef>
              <a:spcAft>
                <a:spcPts val="0"/>
              </a:spcAft>
              <a:buNone/>
            </a:pPr>
            <a:r>
              <a:rPr b="1" lang="en-IN" sz="2400">
                <a:solidFill>
                  <a:schemeClr val="lt1"/>
                </a:solidFill>
                <a:latin typeface="Calibri"/>
                <a:ea typeface="Calibri"/>
                <a:cs typeface="Calibri"/>
                <a:sym typeface="Calibri"/>
              </a:rPr>
              <a:t>It takes your principle and annual </a:t>
            </a:r>
            <a:r>
              <a:rPr b="1" lang="en-IN" sz="2400">
                <a:solidFill>
                  <a:schemeClr val="lt1"/>
                </a:solidFill>
                <a:latin typeface="Calibri"/>
                <a:ea typeface="Calibri"/>
                <a:cs typeface="Calibri"/>
                <a:sym typeface="Calibri"/>
              </a:rPr>
              <a:t>interest</a:t>
            </a:r>
            <a:r>
              <a:rPr b="1" lang="en-IN" sz="2400">
                <a:solidFill>
                  <a:schemeClr val="lt1"/>
                </a:solidFill>
                <a:latin typeface="Calibri"/>
                <a:ea typeface="Calibri"/>
                <a:cs typeface="Calibri"/>
                <a:sym typeface="Calibri"/>
              </a:rPr>
              <a:t> rate and the number of years you want to pay for and gives you the minimum payment to pay along with more faster </a:t>
            </a:r>
            <a:r>
              <a:rPr b="1" lang="en-IN" sz="2400">
                <a:solidFill>
                  <a:schemeClr val="lt1"/>
                </a:solidFill>
                <a:latin typeface="Calibri"/>
                <a:ea typeface="Calibri"/>
                <a:cs typeface="Calibri"/>
                <a:sym typeface="Calibri"/>
              </a:rPr>
              <a:t>methods</a:t>
            </a:r>
            <a:r>
              <a:rPr b="1" lang="en-IN" sz="2400">
                <a:solidFill>
                  <a:schemeClr val="lt1"/>
                </a:solidFill>
                <a:latin typeface="Calibri"/>
                <a:ea typeface="Calibri"/>
                <a:cs typeface="Calibri"/>
                <a:sym typeface="Calibri"/>
              </a:rPr>
              <a:t> of paying.</a:t>
            </a:r>
            <a:endParaRPr b="1" i="0" sz="2400" u="none" cap="none" strike="noStrike">
              <a:solidFill>
                <a:schemeClr val="lt1"/>
              </a:solidFill>
              <a:latin typeface="Calibri"/>
              <a:ea typeface="Calibri"/>
              <a:cs typeface="Calibri"/>
              <a:sym typeface="Calibri"/>
            </a:endParaRPr>
          </a:p>
        </p:txBody>
      </p:sp>
      <p:pic>
        <p:nvPicPr>
          <p:cNvPr id="149" name="Google Shape;149;g39e14512d2f_0_7"/>
          <p:cNvPicPr preferRelativeResize="0"/>
          <p:nvPr/>
        </p:nvPicPr>
        <p:blipFill>
          <a:blip r:embed="rId3">
            <a:alphaModFix/>
          </a:blip>
          <a:stretch>
            <a:fillRect/>
          </a:stretch>
        </p:blipFill>
        <p:spPr>
          <a:xfrm>
            <a:off x="152400" y="1583658"/>
            <a:ext cx="4724400" cy="487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9e14512d2f_0_22"/>
          <p:cNvSpPr/>
          <p:nvPr/>
        </p:nvSpPr>
        <p:spPr>
          <a:xfrm>
            <a:off x="611560" y="140358"/>
            <a:ext cx="7920900" cy="12909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4400">
                <a:solidFill>
                  <a:schemeClr val="dk1"/>
                </a:solidFill>
                <a:latin typeface="Calibri"/>
                <a:ea typeface="Calibri"/>
                <a:cs typeface="Calibri"/>
                <a:sym typeface="Calibri"/>
              </a:rPr>
              <a:t>Money tips </a:t>
            </a:r>
            <a:endParaRPr/>
          </a:p>
        </p:txBody>
      </p:sp>
      <p:sp>
        <p:nvSpPr>
          <p:cNvPr id="155" name="Google Shape;155;g39e14512d2f_0_22"/>
          <p:cNvSpPr txBox="1"/>
          <p:nvPr>
            <p:ph idx="1" type="body"/>
          </p:nvPr>
        </p:nvSpPr>
        <p:spPr>
          <a:xfrm>
            <a:off x="-4552250" y="1282700"/>
            <a:ext cx="34719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2400"/>
              <a:buChar char="•"/>
            </a:pPr>
            <a:r>
              <a:rPr b="1" lang="en-IN" sz="2400">
                <a:solidFill>
                  <a:schemeClr val="lt1"/>
                </a:solidFill>
              </a:rPr>
              <a:t>Screenshot/ Pic of each option/screen of the App</a:t>
            </a:r>
            <a:endParaRPr b="1" sz="2400">
              <a:solidFill>
                <a:schemeClr val="lt1"/>
              </a:solidFill>
            </a:endParaRPr>
          </a:p>
        </p:txBody>
      </p:sp>
      <p:sp>
        <p:nvSpPr>
          <p:cNvPr id="156" name="Google Shape;156;g39e14512d2f_0_22"/>
          <p:cNvSpPr txBox="1"/>
          <p:nvPr/>
        </p:nvSpPr>
        <p:spPr>
          <a:xfrm>
            <a:off x="5672100" y="1583650"/>
            <a:ext cx="3471900" cy="4526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480"/>
              </a:spcBef>
              <a:spcAft>
                <a:spcPts val="0"/>
              </a:spcAft>
              <a:buNone/>
            </a:pPr>
            <a:r>
              <a:rPr b="1" lang="en-IN" sz="2400">
                <a:solidFill>
                  <a:schemeClr val="lt1"/>
                </a:solidFill>
                <a:latin typeface="Calibri"/>
                <a:ea typeface="Calibri"/>
                <a:cs typeface="Calibri"/>
                <a:sym typeface="Calibri"/>
              </a:rPr>
              <a:t>It takes your income and suggests healthy </a:t>
            </a:r>
            <a:r>
              <a:rPr b="1" lang="en-IN" sz="2400">
                <a:solidFill>
                  <a:schemeClr val="lt1"/>
                </a:solidFill>
                <a:latin typeface="Calibri"/>
                <a:ea typeface="Calibri"/>
                <a:cs typeface="Calibri"/>
                <a:sym typeface="Calibri"/>
              </a:rPr>
              <a:t>proportions</a:t>
            </a:r>
            <a:r>
              <a:rPr b="1" lang="en-IN" sz="2400">
                <a:solidFill>
                  <a:schemeClr val="lt1"/>
                </a:solidFill>
                <a:latin typeface="Calibri"/>
                <a:ea typeface="Calibri"/>
                <a:cs typeface="Calibri"/>
                <a:sym typeface="Calibri"/>
              </a:rPr>
              <a:t> of savings, expenses, investments. Along with suggesting tips on how to pay down your debt faster and other money tips</a:t>
            </a:r>
            <a:endParaRPr b="1" i="0" sz="2400" u="none" cap="none" strike="noStrike">
              <a:solidFill>
                <a:schemeClr val="lt1"/>
              </a:solidFill>
              <a:latin typeface="Calibri"/>
              <a:ea typeface="Calibri"/>
              <a:cs typeface="Calibri"/>
              <a:sym typeface="Calibri"/>
            </a:endParaRPr>
          </a:p>
        </p:txBody>
      </p:sp>
      <p:pic>
        <p:nvPicPr>
          <p:cNvPr id="157" name="Google Shape;157;g39e14512d2f_0_22"/>
          <p:cNvPicPr preferRelativeResize="0"/>
          <p:nvPr/>
        </p:nvPicPr>
        <p:blipFill>
          <a:blip r:embed="rId3">
            <a:alphaModFix/>
          </a:blip>
          <a:stretch>
            <a:fillRect/>
          </a:stretch>
        </p:blipFill>
        <p:spPr>
          <a:xfrm>
            <a:off x="0" y="1583650"/>
            <a:ext cx="5704425" cy="3577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p:nvPr/>
        </p:nvSpPr>
        <p:spPr>
          <a:xfrm>
            <a:off x="1871700" y="200702"/>
            <a:ext cx="5400600" cy="1290871"/>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Contact Person</a:t>
            </a:r>
            <a:endParaRPr/>
          </a:p>
        </p:txBody>
      </p:sp>
      <p:sp>
        <p:nvSpPr>
          <p:cNvPr id="163" name="Google Shape;16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b="1" lang="en-IN">
                <a:solidFill>
                  <a:schemeClr val="lt1"/>
                </a:solidFill>
              </a:rPr>
              <a:t>Please reach out to student name at ayesha.a.qadir2008@gmail.com for any questions/ concerns/ suggestions on the App</a:t>
            </a:r>
            <a:endParaRPr/>
          </a:p>
          <a:p>
            <a:pPr indent="-342900" lvl="0" marL="342900" rtl="0" algn="l">
              <a:spcBef>
                <a:spcPts val="640"/>
              </a:spcBef>
              <a:spcAft>
                <a:spcPts val="0"/>
              </a:spcAft>
              <a:buClr>
                <a:schemeClr val="dk1"/>
              </a:buClr>
              <a:buSzPts val="3200"/>
              <a:buNone/>
            </a:pPr>
            <a:r>
              <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2742076" y="2786058"/>
            <a:ext cx="4258816" cy="1143000"/>
          </a:xfrm>
          <a:prstGeom prst="rect">
            <a:avLst/>
          </a:prstGeom>
          <a:solidFill>
            <a:srgbClr val="F1EDA5"/>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2021-09-17T13:31:27Z</dcterms:created>
  <dc:creator>Smita</dc:creator>
</cp:coreProperties>
</file>